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202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</a:rPr>
              <a:t>TMDB Data Engineering Project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2606040"/>
            <a:ext cx="88696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End-to-end pipeline with Airflow, Python, PostgreSQL, dbt, Docker and Power BI-ready dimensional models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4754880" cy="292608"/>
          </a:xfrm>
          <a:prstGeom prst="rect">
            <a:avLst/>
          </a:prstGeom>
          <a:solidFill>
            <a:srgbClr val="1B73E8"/>
          </a:solidFill>
          <a:ln>
            <a:solidFill>
              <a:srgbClr val="1B73E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API → Raw → dbt → Star Schema → Tests → Dashboard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13232" y="3977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Presentation-ready project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TMDB Data Engineering Project •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Project Objective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Build a realistic, production-style Data Engineering pipeline using open-source tools.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463040" cy="731520"/>
          </a:xfrm>
          <a:prstGeom prst="rect">
            <a:avLst/>
          </a:prstGeom>
          <a:solidFill>
            <a:srgbClr val="1B73E8"/>
          </a:solidFill>
          <a:ln>
            <a:solidFill>
              <a:srgbClr val="1B73E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TMDB API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88920" y="1828800"/>
            <a:ext cx="1645920" cy="73152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Orchestrate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Airflow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4920" y="1828800"/>
            <a:ext cx="1554480" cy="731520"/>
          </a:xfrm>
          <a:prstGeom prst="rect">
            <a:avLst/>
          </a:prstGeom>
          <a:solidFill>
            <a:srgbClr val="18A058"/>
          </a:solidFill>
          <a:ln>
            <a:solidFill>
              <a:srgbClr val="18A05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Transform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dbt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269480" y="1828800"/>
            <a:ext cx="1737360" cy="7315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 Schema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46920" y="1828800"/>
            <a:ext cx="1645920" cy="73152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Consume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Power BI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2194560"/>
            <a:ext cx="502920" cy="0"/>
          </a:xfrm>
          <a:prstGeom prst="line">
            <a:avLst/>
          </a:prstGeom>
          <a:noFill/>
          <a:ln w="20320">
            <a:solidFill>
              <a:srgbClr val="1B73E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80560" y="2194560"/>
            <a:ext cx="548640" cy="0"/>
          </a:xfrm>
          <a:prstGeom prst="line">
            <a:avLst/>
          </a:prstGeom>
          <a:noFill/>
          <a:ln w="20320">
            <a:solidFill>
              <a:srgbClr val="1B73E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29400" y="2194560"/>
            <a:ext cx="594360" cy="0"/>
          </a:xfrm>
          <a:prstGeom prst="line">
            <a:avLst/>
          </a:prstGeom>
          <a:noFill/>
          <a:ln w="20320">
            <a:solidFill>
              <a:srgbClr val="1B73E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52560" y="2194560"/>
            <a:ext cx="548640" cy="0"/>
          </a:xfrm>
          <a:prstGeom prst="line">
            <a:avLst/>
          </a:prstGeom>
          <a:noFill/>
          <a:ln w="20320">
            <a:solidFill>
              <a:srgbClr val="1B73E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22960" y="3703320"/>
            <a:ext cx="47091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Business questions answered: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Which movies are most popular?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How do ratings vary by genre and year?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What changed over time?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3703320"/>
            <a:ext cx="5029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Engineering goals achieved: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Reliable orchestration with retries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Data quality tests before dashboards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Incremental + historical tracking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TMDB Data Engineering Project •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End-to-End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Daily Airflow DAG extracts, loads, transforms, validates and prepares data for analytics.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691640" y="2971800"/>
            <a:ext cx="640080" cy="0"/>
          </a:xfrm>
          <a:prstGeom prst="line">
            <a:avLst/>
          </a:prstGeom>
          <a:noFill/>
          <a:ln w="20320">
            <a:solidFill>
              <a:srgbClr val="1B73E8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337560" y="2971800"/>
            <a:ext cx="640080" cy="0"/>
          </a:xfrm>
          <a:prstGeom prst="line">
            <a:avLst/>
          </a:prstGeom>
          <a:noFill/>
          <a:ln w="20320">
            <a:solidFill>
              <a:srgbClr val="1B73E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983480" y="2971800"/>
            <a:ext cx="640080" cy="0"/>
          </a:xfrm>
          <a:prstGeom prst="line">
            <a:avLst/>
          </a:prstGeom>
          <a:noFill/>
          <a:ln w="20320">
            <a:solidFill>
              <a:srgbClr val="1B73E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629400" y="2971800"/>
            <a:ext cx="640080" cy="0"/>
          </a:xfrm>
          <a:prstGeom prst="line">
            <a:avLst/>
          </a:prstGeom>
          <a:noFill/>
          <a:ln w="20320">
            <a:solidFill>
              <a:srgbClr val="1B73E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75320" y="2971800"/>
            <a:ext cx="640080" cy="0"/>
          </a:xfrm>
          <a:prstGeom prst="line">
            <a:avLst/>
          </a:prstGeom>
          <a:noFill/>
          <a:ln w="20320">
            <a:solidFill>
              <a:srgbClr val="1B73E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921240" y="2971800"/>
            <a:ext cx="640080" cy="0"/>
          </a:xfrm>
          <a:prstGeom prst="line">
            <a:avLst/>
          </a:prstGeom>
          <a:noFill/>
          <a:ln w="20320">
            <a:solidFill>
              <a:srgbClr val="1B73E8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94360" y="2743200"/>
            <a:ext cx="1143000" cy="502920"/>
          </a:xfrm>
          <a:prstGeom prst="rect">
            <a:avLst/>
          </a:prstGeom>
          <a:solidFill>
            <a:srgbClr val="1B73E8"/>
          </a:solidFill>
          <a:ln>
            <a:solidFill>
              <a:srgbClr val="1B73E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TMDB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2743200"/>
            <a:ext cx="1051560" cy="50292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77640" y="2743200"/>
            <a:ext cx="1051560" cy="502920"/>
          </a:xfrm>
          <a:prstGeom prst="rect">
            <a:avLst/>
          </a:prstGeom>
          <a:solidFill>
            <a:srgbClr val="18A058"/>
          </a:solidFill>
          <a:ln>
            <a:solidFill>
              <a:srgbClr val="18A05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23560" y="2743200"/>
            <a:ext cx="1051560" cy="5029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dbt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69480" y="2743200"/>
            <a:ext cx="1051560" cy="5029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Tests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Snapshots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15400" y="2743200"/>
            <a:ext cx="1051560" cy="50292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Schema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61320" y="2743200"/>
            <a:ext cx="1051560" cy="502920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874520"/>
            <a:ext cx="0" cy="73152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1325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Airflow controls the full workflow: scheduling, retries, logs, failure callbacks and task dependencies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160520"/>
            <a:ext cx="3474720" cy="91440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Raw layer stores current source state with audit columns: loaded_at, updated_at, last_ingestion_date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4160520"/>
            <a:ext cx="3108960" cy="9144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dbt transforms source data through staging, intermediate and mart layers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0" y="4160520"/>
            <a:ext cx="338328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Tests and snapshots protect data quality and preserve historical changes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TMDB Data Engineering Project •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Airflow Orchestration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DAG controls order of execution and stops the pipeline if dbt tests fail.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057400" y="2423160"/>
            <a:ext cx="36576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749040" y="2423160"/>
            <a:ext cx="45720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532120" y="2423160"/>
            <a:ext cx="45720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315200" y="2423160"/>
            <a:ext cx="50292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44000" y="2423160"/>
            <a:ext cx="13716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22960" y="2057400"/>
            <a:ext cx="1234440" cy="731520"/>
          </a:xfrm>
          <a:prstGeom prst="rect">
            <a:avLst/>
          </a:prstGeom>
          <a:solidFill>
            <a:srgbClr val="1B73E8"/>
          </a:solidFill>
          <a:ln>
            <a:solidFill>
              <a:srgbClr val="1B73E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extract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popular movies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14600" y="2057400"/>
            <a:ext cx="1234440" cy="731520"/>
          </a:xfrm>
          <a:prstGeom prst="rect">
            <a:avLst/>
          </a:prstGeom>
          <a:solidFill>
            <a:srgbClr val="18A058"/>
          </a:solidFill>
          <a:ln>
            <a:solidFill>
              <a:srgbClr val="18A05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movies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0" y="2057400"/>
            <a:ext cx="1234440" cy="73152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extract + load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genres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80760" y="2057400"/>
            <a:ext cx="1234440" cy="7315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dbt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snapshot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09560" y="2057400"/>
            <a:ext cx="1234440" cy="73152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dbt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run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372600" y="2057400"/>
            <a:ext cx="1234440" cy="7315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dbt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✓ Daily schedule configured with @daily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✓ Retries and retry delay handle transient failures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45262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✓ Failure callback prints pipeline context in logs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0" y="37947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✓ XCom passes extract metadata into load task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4160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✓ PostgresHook validation removes hardcoded connection logic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0" y="45262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✓ dbt test is the quality gate before analytics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TMDB Data Engineering Project •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Raw Layer and Audit Tracking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PostgreSQL stores current TMDB data with audit fields for operational visibility.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2971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3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raw_popular_movies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movie_id (PK)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title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popularity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vote_average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vote_count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genre_ids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loaded_at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updated_at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last_ingestion_date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80560" y="1508760"/>
            <a:ext cx="2468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raw_genres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genre_id (PK)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genre_name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loaded_at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updated_at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0" y="1508760"/>
            <a:ext cx="3657600" cy="2423160"/>
          </a:xfrm>
          <a:prstGeom prst="rect">
            <a:avLst/>
          </a:prstGeom>
          <a:solidFill>
            <a:srgbClr val="DCFCE7"/>
          </a:solidFill>
          <a:ln w="12700">
            <a:solidFill>
              <a:srgbClr val="18A05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UPSERT behavior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New movie_id → INSERT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Existing movie_id → UPDATE latest metrics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loaded_at stays first insert time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updated_at refreshes on every update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80560" y="4251960"/>
            <a:ext cx="667512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Why this matters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The raw table keeps the current source state while snapshots preserve the historical state.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TMDB Data Engineering Project •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dbt Transformation Layers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Layered dbt design keeps source cleanup, business logic and analytics models separated.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645920" cy="685800"/>
          </a:xfrm>
          <a:prstGeom prst="rect">
            <a:avLst/>
          </a:prstGeom>
          <a:solidFill>
            <a:srgbClr val="1B73E8"/>
          </a:solidFill>
          <a:ln>
            <a:solidFill>
              <a:srgbClr val="1B73E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Sources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raw tables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1920240"/>
            <a:ext cx="1920240" cy="685800"/>
          </a:xfrm>
          <a:prstGeom prst="rect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rename + standardize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0" y="1920240"/>
            <a:ext cx="1920240" cy="685800"/>
          </a:xfrm>
          <a:prstGeom prst="rect">
            <a:avLst/>
          </a:prstGeom>
          <a:solidFill>
            <a:srgbClr val="18A058"/>
          </a:solidFill>
          <a:ln>
            <a:solidFill>
              <a:srgbClr val="18A05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Intermediate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logic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21040" y="1920240"/>
            <a:ext cx="1920240" cy="685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dim + fact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78608" y="2267712"/>
            <a:ext cx="576072" cy="0"/>
          </a:xfrm>
          <a:prstGeom prst="line">
            <a:avLst/>
          </a:prstGeom>
          <a:noFill/>
          <a:ln w="20320">
            <a:solidFill>
              <a:srgbClr val="1B73E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38928" y="2267712"/>
            <a:ext cx="576072" cy="0"/>
          </a:xfrm>
          <a:prstGeom prst="line">
            <a:avLst/>
          </a:prstGeom>
          <a:noFill/>
          <a:ln w="20320">
            <a:solidFill>
              <a:srgbClr val="1B73E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699248" y="2267712"/>
            <a:ext cx="576072" cy="0"/>
          </a:xfrm>
          <a:prstGeom prst="line">
            <a:avLst/>
          </a:prstGeom>
          <a:noFill/>
          <a:ln w="20320">
            <a:solidFill>
              <a:srgbClr val="1B73E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3794760"/>
            <a:ext cx="2286000" cy="8686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stg_popular_movies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stg_genres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3794760"/>
            <a:ext cx="2560320" cy="8686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int_movies_clean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macros for categories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3611880"/>
            <a:ext cx="3474720" cy="123444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dim_movie, dim_genre, dim_date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fact_movie_performance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bridge_movie_genre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TMDB Data Engineering Project •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Dimensional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Star schema with a bridge table to handle many-to-many movie genres.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0" y="2743200"/>
            <a:ext cx="192024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572000" y="2057400"/>
            <a:ext cx="0" cy="-27432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840480" y="3063240"/>
            <a:ext cx="-1691640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03120" y="2560320"/>
            <a:ext cx="0" cy="-68580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657600" y="114300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3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dim_date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PK: date_key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year, month, quarter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94760" y="214884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F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dim_movie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PK: movie_id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FK: date_key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movie attributes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0" y="2148840"/>
            <a:ext cx="2240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fact_movie_performance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FK: movie_id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rating, vote_count, popularity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1828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bridge_movie_genre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movie_id + genre_id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114300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8A05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dim_genre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PK: genre_id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genre_name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20240" y="5166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Fact table answers “how much?”; dimension tables answer “by what?”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TMDB Data Engineering Project •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Data Quality and Change Tracking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dbt tests protect downstream consumers; snapshots preserve historical changes.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3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dbt tests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not_null on keys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unique on dimension keys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relationships between fact and dimensions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accepted patterns prepared for future tests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41732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8A05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dbt snapshot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Tracks changes in: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vote_average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popularity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vote_count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Creates SCD2 columns: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dbt_valid_from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dbt_valid_to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732520" y="1920240"/>
            <a:ext cx="2606040" cy="2240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Quality gate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If dbt test fails, Airflow marks the task failed and stops the pipeline before data reaches dashboards.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TMDB Data Engineering Project •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dbt Features Implemented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Reusable, testable and scalable transformation patterns.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645920" cy="292608"/>
          </a:xfrm>
          <a:prstGeom prst="rect">
            <a:avLst/>
          </a:prstGeom>
          <a:solidFill>
            <a:srgbClr val="1B73E8"/>
          </a:solidFill>
          <a:ln>
            <a:solidFill>
              <a:srgbClr val="1B73E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Macros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97480" y="1353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get_rating_category(), get_popularity_category()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1645920" cy="292608"/>
          </a:xfrm>
          <a:prstGeom prst="rect">
            <a:avLst/>
          </a:prstGeom>
          <a:solidFill>
            <a:srgbClr val="1B73E8"/>
          </a:solidFill>
          <a:ln>
            <a:solidFill>
              <a:srgbClr val="1B73E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Seeds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97480" y="26791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genre_mapping.csv for static reference data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1645920" cy="292608"/>
          </a:xfrm>
          <a:prstGeom prst="rect">
            <a:avLst/>
          </a:prstGeom>
          <a:solidFill>
            <a:srgbClr val="1B73E8"/>
          </a:solidFill>
          <a:ln>
            <a:solidFill>
              <a:srgbClr val="1B73E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Incremental Model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97480" y="40050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fact_movie_performance uses movie_id as unique key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46520" y="1325880"/>
            <a:ext cx="1645920" cy="292608"/>
          </a:xfrm>
          <a:prstGeom prst="rect">
            <a:avLst/>
          </a:prstGeom>
          <a:solidFill>
            <a:srgbClr val="18A058"/>
          </a:solidFill>
          <a:ln>
            <a:solidFill>
              <a:srgbClr val="18A05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Snapshots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21040" y="1353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raw_popular_movies_snapshot tracks metric changes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2651760"/>
            <a:ext cx="1645920" cy="292608"/>
          </a:xfrm>
          <a:prstGeom prst="rect">
            <a:avLst/>
          </a:prstGeom>
          <a:solidFill>
            <a:srgbClr val="18A058"/>
          </a:solidFill>
          <a:ln>
            <a:solidFill>
              <a:srgbClr val="18A05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Docs + Lineage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321040" y="26791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dbt docs shows sources → staging → marts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46520" y="3977640"/>
            <a:ext cx="1645920" cy="292608"/>
          </a:xfrm>
          <a:prstGeom prst="rect">
            <a:avLst/>
          </a:prstGeom>
          <a:solidFill>
            <a:srgbClr val="18A058"/>
          </a:solidFill>
          <a:ln>
            <a:solidFill>
              <a:srgbClr val="18A05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21040" y="40050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not_null, unique and relationship validation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TMDB Data Engineering Project •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Airflow XComs and Hooks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Project now demonstrates Airflow-native communication and connection management.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240280" y="2148840"/>
            <a:ext cx="1463040" cy="0"/>
          </a:xfrm>
          <a:prstGeom prst="line">
            <a:avLst/>
          </a:prstGeom>
          <a:noFill/>
          <a:ln w="20320">
            <a:solidFill>
              <a:srgbClr val="1B73E8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532120" y="2148840"/>
            <a:ext cx="1463040" cy="0"/>
          </a:xfrm>
          <a:prstGeom prst="line">
            <a:avLst/>
          </a:prstGeom>
          <a:noFill/>
          <a:ln w="20320">
            <a:solidFill>
              <a:srgbClr val="18A058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1417320" cy="914400"/>
          </a:xfrm>
          <a:prstGeom prst="rect">
            <a:avLst/>
          </a:prstGeom>
          <a:solidFill>
            <a:srgbClr val="1B73E8"/>
          </a:solidFill>
          <a:ln>
            <a:solidFill>
              <a:srgbClr val="1B73E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Extract Task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returns metadata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03320" y="169164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XCom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json_path, source, record_count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95160" y="1691640"/>
            <a:ext cx="1463040" cy="914400"/>
          </a:xfrm>
          <a:prstGeom prst="rect">
            <a:avLst/>
          </a:prstGeom>
          <a:solidFill>
            <a:srgbClr val="18A058"/>
          </a:solidFill>
          <a:ln>
            <a:solidFill>
              <a:srgbClr val="18A058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Load Task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receives metadata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15400" y="1508760"/>
            <a:ext cx="2560320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9731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PostgresHook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Uses Airflow connection instead of hardcoded psycopg2 connection fields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88720" y="3931920"/>
            <a:ext cx="9875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Why it matters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Easier to move across environments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Connections managed in Airflow UI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• Tasks can pass lightweight metadata without writing temporary control files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TMDB Data Engineering Project •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Dashboard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Power BI can connect to the final mart tables for business-facing analysis.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2560320" cy="182880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KPI Cards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• Total movies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• Average rating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• Total votes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• Highest popularity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0" y="1463040"/>
            <a:ext cx="2560320" cy="18288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Trend Views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• Movies by release year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• Rating by month/quarter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• Popularity trend by date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0" y="1463040"/>
            <a:ext cx="2560320" cy="1828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Genre Views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• Movies by genre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• Top genres by popularity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• Average rating by genre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0" y="1463040"/>
            <a:ext cx="2468880" cy="182880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Top Lists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• Top 10 popular movies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• Top rated movies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• High vote-count movies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Primary reporting model: fact_movie_performance + dim_movie + dim_date + dim_genre via bridge_movie_genre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TMDB Data Engineering Project •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Outcome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 complete end-to-end Data Engineering project with production-style patterns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05840" y="19659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✓ API ingestion with pagination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005840" y="24688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✓ PostgreSQL raw layer with upsert + audit tracking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05840" y="297180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✓ dbt layered transformations and dimensional model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05840" y="34747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✓ Data quality tests, snapshots, macros and seeds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39776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✓ Airflow scheduling, retries, callbacks, XComs and Hooks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14400" y="4800600"/>
            <a:ext cx="1005840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1663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C5FD"/>
                </a:solidFill>
              </a:rPr>
              <a:t>Ready for dashboard build and interview walkthrough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TMDB Data Engineering Project Presentation</dc:title>
  <dc:subject>TMDB Data Engineering Project</dc:subject>
  <dc:creator>OpenAI</dc:creator>
  <cp:lastModifiedBy>OpenAI</cp:lastModifiedBy>
  <cp:revision>1</cp:revision>
  <dcterms:created xsi:type="dcterms:W3CDTF">2026-06-26T08:20:36Z</dcterms:created>
  <dcterms:modified xsi:type="dcterms:W3CDTF">2026-06-26T08:20:36Z</dcterms:modified>
</cp:coreProperties>
</file>